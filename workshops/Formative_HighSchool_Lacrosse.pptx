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0:00–0:02 | Open standing, high energy. 'Show of hands — who posted something in the last 24 hours?' Most hands go up. 'Then this isn't about whether you have a brand — you already do. It's about running it on purpose.' Frame: 60 min, mostly hands-on, they leave with a one-page brand brief and a live 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0:02–0:06 | Socratic. Ask the question and let it sit; take 2–3 answers. The point: a personal brand is already running — the only choice is whether you take the wheel. Transition: 'Before we steer it, where's the money actually in 2026?'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0:06–0:10 | The reframe that earns attention. Show where the real, durable money is for this athlete — and why the audience they build is the asset they control. Sets up everything next. Factual, not cynical.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0:10–0:14 | Reframe 'brand' away from visuals toward business. Reputation, audience, trust — assets. Land the thesis: athletes are small businesses. The hinge of the session. Transition: 'Let's build yours — starting with you, not your sport.'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0:14–0:19 | First hands-on rep. 90 seconds of silence to write, then take 4–5 aloud and react. Nobody picks a sport word — that's the point. This is box 1 of their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0:19–0:23 | The Triple-POV lens, athlete-flavored. Every branding decision involves three parties. Brands evaluate you by what fans do — so authenticity is the business model. Transition to picking lanes.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0:23–0:28 | Second rep. Six starters, not limits — invite their own lane. Discipline is choosing only three. Lanes must match the three words. Box 2 of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0:28–0:31 | Short teach block. Brands and fans reward process and authenticity over polish. They need a phone and consistency, not a videographer. Lowers the barrier before they make something.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0:31–0:35 | Reflection rep — quieter. Let them scroll against the rubric. Failing the audit is the opportunity, because clarity is free and instant. Don't shame content — frame as untapped upside.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0:35–0:40 | Biggest 'do' block — 3–4 min. Walk the room. The template kills the blank page: lane, hook, moment, why-it's-you. Coach a hook live. Box 3 of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0:40–0:44 | Bust the follower-count myth — freeing for an athlete with a few thousand followers. Brands pay for engaged, clearly-defined, trusted audiences. Drivers: trust, clarity, consistency, 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0:44–0:46 | The most important compliance idea: your rules depend on who you are — division, state, status. Don't recite rules; teach the dimensions and point them to the right office. Slow down here — this protects them and Formative.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0:46–0:48 | The universal guardrails apply to everyone. Then STOP on the red box: if any athlete in the room is international, active U.S. NIL can cost their visa — send them to the international student office and an immigration attorney before anything. Say clearly: education, not legal advice.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0:48–0:50 | Name the pain they'll feel as they grow: a business across a dozen tools, and brands with no way to find or pay them. This is the problem Formative solves. Make them want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0:50–0:53 | The reveal, tight and confident. Formative is the front door and the operating system: one profile, a matching engine, one flow from handshake to payment. Sell the relief of one system replacing twenty. Then move to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0:53–0:58 | The conversion moment. QR up, walk the room, do it WITH them. Their lanes from box 2 drop straight in. Goal: every athlete leaves live and discoverable. No signal? Hand out the paper brief and capture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0:58 (overlaps) | Quick payoff picture so signing up has an obvious 'why.' Keep it to 30 seconds — momentum into the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0:58–1:00 | Land the transformation. Recap the four things now in their hands: identity, lanes, signature post, live profile. One homework: post the signature piece this week. End on belief.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 | Close with conviction, QR still up. 'Run your brand — we'll handle the business.' Thank them, point to the QR once more, take questions. Swap the placeholder handle/email/URL for the real Formative contact details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mar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77240"/>
            <a:ext cx="1294448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240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× HIGH SCHOOL LACROSSE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48640" y="278892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already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</a:t>
            </a:r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brand.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548640" y="5074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C6E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Personal branding &amp; NIL for high school lacrosse players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60-minute working session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QUESTION · 0:02–0:06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Who's running your brand —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you, or the algorithm?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62432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82403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already exists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Every post, clip, and caption is a vote for how people see you.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62432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82403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It's always 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Coaches, brands, and fans are forming an opinion whether you curate it or not.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62432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82403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can be steered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brand run on purpose opens doors. One left on autopilot closes them.</a:t>
            </a:r>
            <a:endParaRPr lang="en-US" sz="1250" dirty="0"/>
          </a:p>
        </p:txBody>
      </p:sp>
      <p:pic>
        <p:nvPicPr>
          <p:cNvPr id="19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LANDSCAPE · 0:06–0:10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college money isn't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yours — yet. So start now.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4937760" cy="3063240"/>
          </a:xfrm>
          <a:prstGeom prst="roundRect">
            <a:avLst>
              <a:gd name="adj" fmla="val 358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51760"/>
            <a:ext cx="640080" cy="640080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902" y="283098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72491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There's no school paycheck in high school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4343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Revenue sharing is a </a:t>
            </a:r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college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thing — high schools don't pay athletes. Where your state allows it, high school NIL is brand deals only, and usually modest. The real win isn't a check today.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715000" y="2377440"/>
            <a:ext cx="3063240" cy="1417320"/>
          </a:xfrm>
          <a:prstGeom prst="roundRect">
            <a:avLst>
              <a:gd name="adj" fmla="val 774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943600" y="263347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45+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5943600" y="347472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States that now allow some high school NIL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942832" y="237744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9171432" y="263347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$0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9171432" y="347472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School revenue share at the high school level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715000" y="3977640"/>
            <a:ext cx="5925312" cy="1463040"/>
          </a:xfrm>
          <a:prstGeom prst="roundRect">
            <a:avLst>
              <a:gd name="adj" fmla="val 75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5989320" y="4224528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663" y="4408871"/>
            <a:ext cx="289682" cy="28968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858000" y="4206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audience you build now is your head start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858000" y="46177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Start building your brand today and you walk into college NIL — real money — already ahead, with an audience that's yours.</a:t>
            </a:r>
            <a:endParaRPr lang="en-US" sz="1250" dirty="0"/>
          </a:p>
        </p:txBody>
      </p:sp>
      <p:pic>
        <p:nvPicPr>
          <p:cNvPr id="20" name="Image 2" descr="/home/claude/assets/mark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FRAME · 0:10–0:14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brand isn't a logo.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It's a business.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Reputation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people say about you when you're not in the room — on and off the field.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7783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Audience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people who choose to follow your story. This is the asset brands pay for.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578608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7783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Trust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reason a fan shows up and a brand signs. Earned slowly, spent instantly.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12064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822960" y="5285232"/>
            <a:ext cx="676656" cy="676656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424" y="5474696"/>
            <a:ext cx="297729" cy="29772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528523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Formative thesis: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creators — and athletes — are small businesses. You have a product, an audience, and revenue. You just haven't been handed the tools.</a:t>
            </a:r>
            <a:endParaRPr lang="en-US" sz="1400" dirty="0"/>
          </a:p>
        </p:txBody>
      </p:sp>
      <p:pic>
        <p:nvPicPr>
          <p:cNvPr id="23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0:14–0:19  ·  EXERCISE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words that aren't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“lacrosse.”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6400800" cy="3200400"/>
          </a:xfrm>
          <a:prstGeom prst="roundRect">
            <a:avLst>
              <a:gd name="adj" fmla="val 34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0604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80574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697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 your phone, open Notes.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5204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Write three words that describe who you are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beyond the game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. Not your position. Not your stats. The person.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45262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e.g.  relentless · small-town · funny     /     curious · faith-first · competitor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223760" y="2331720"/>
            <a:ext cx="4416552" cy="3200400"/>
          </a:xfrm>
          <a:prstGeom prst="roundRect">
            <a:avLst>
              <a:gd name="adj" fmla="val 342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0" y="2606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Brief, box 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498080" y="3063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Identity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498080" y="361188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These three words become the filter for every post you make. If a piece of content doesn't sound like these words, it's not yours.</a:t>
            </a:r>
            <a:endParaRPr lang="en-US" sz="1350" dirty="0"/>
          </a:p>
        </p:txBody>
      </p:sp>
      <p:pic>
        <p:nvPicPr>
          <p:cNvPr id="14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LENS · 0:19–0:23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people are always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 the room.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— the creator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story, your voice, your audience. The asset everything is built 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5786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7783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Brands — who pay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They're buying access to your audience and the trust you've earned with it.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7783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Fans — who follow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They decide if any of it is real. Lose them and the other two walk.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5212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Agencies sometimes manage an athlete's account — on Formative that's flagged openly, so fans and brands always know who they're talking to.</a:t>
            </a:r>
            <a:endParaRPr lang="en-US" sz="1300" dirty="0"/>
          </a:p>
        </p:txBody>
      </p:sp>
      <p:pic>
        <p:nvPicPr>
          <p:cNvPr id="20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0:23–0:28  ·  EXERCISE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Pick your three lanes.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content needs lanes — repeatable themes people follow you for. Pick the three that fit your three words.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04672" y="261518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015" y="2799527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grind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0" y="261518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343" y="2799527"/>
            <a:ext cx="289682" cy="2896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3248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Game day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8083296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8339328" y="261518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671" y="2799527"/>
            <a:ext cx="289682" cy="28968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80576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Off the field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548640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804672" y="416966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015" y="4354007"/>
            <a:ext cx="289682" cy="28968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45920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Skills &amp; tips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4315968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2" name="Shape 16"/>
          <p:cNvSpPr/>
          <p:nvPr/>
        </p:nvSpPr>
        <p:spPr>
          <a:xfrm>
            <a:off x="4572000" y="416966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6343" y="4354007"/>
            <a:ext cx="289682" cy="28968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13248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Faith &amp; family</a:t>
            </a:r>
            <a:endParaRPr lang="en-US" sz="1700" dirty="0"/>
          </a:p>
        </p:txBody>
      </p:sp>
      <p:sp>
        <p:nvSpPr>
          <p:cNvPr id="25" name="Shape 18"/>
          <p:cNvSpPr/>
          <p:nvPr/>
        </p:nvSpPr>
        <p:spPr>
          <a:xfrm>
            <a:off x="8083296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6" name="Shape 19"/>
          <p:cNvSpPr/>
          <p:nvPr/>
        </p:nvSpPr>
        <p:spPr>
          <a:xfrm>
            <a:off x="8339328" y="416966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3671" y="4354007"/>
            <a:ext cx="289682" cy="28968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180576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Hot takes</a:t>
            </a:r>
            <a:endParaRPr lang="en-US" sz="1700" dirty="0"/>
          </a:p>
        </p:txBody>
      </p:sp>
      <p:sp>
        <p:nvSpPr>
          <p:cNvPr id="29" name="Text 21"/>
          <p:cNvSpPr/>
          <p:nvPr/>
        </p:nvSpPr>
        <p:spPr>
          <a:xfrm>
            <a:off x="54864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Circle your three in Brief box 2.</a:t>
            </a:r>
            <a:endParaRPr lang="en-US" sz="1500" dirty="0"/>
          </a:p>
        </p:txBody>
      </p:sp>
      <p:pic>
        <p:nvPicPr>
          <p:cNvPr id="30" name="Image 6" descr="/home/claude/assets/mark_indig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32" name="Text 23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PLAYBOOK · 0:28–0:31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Process beats highlights.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Anyone can post a highlight goal. The brand is built in everything around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41248" y="2752344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953" y="2952049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Show the work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28800" y="29992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 a.m. wall ball and lifts beat the highlight reel. Effort is relatable; talent isn't.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81344" y="228600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473952" y="2752344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657" y="2952049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61504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Real over polished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61504" y="29992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phone clip with a real reaction outperforms a produced edit. Fans smell staging.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16052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1248" y="4626864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953" y="4826569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Consistency wins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828800" y="48737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posts a week, every week, beats a viral month then silence. Show up like a starter.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81344" y="416052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6473952" y="4626864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657" y="4826569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61504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Have a point of view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461504" y="48737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take, a value, a story. Neutral content gets scrolled past. Stand for something.</a:t>
            </a:r>
            <a:endParaRPr lang="en-US" sz="125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0:31–0:35  ·  EXERCISE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Audit your last nine posts.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212080" cy="3246120"/>
          </a:xfrm>
          <a:prstGeom prst="roundRect">
            <a:avLst>
              <a:gd name="adj" fmla="val 338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57860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Open your profile. Look at the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last 9. Ask three questions: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6576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Does it sound like my three words?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Would a brand understand what I'm about?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Is there a pattern — or is it random?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943600" y="2286000"/>
            <a:ext cx="5696712" cy="3246120"/>
          </a:xfrm>
          <a:prstGeom prst="roundRect">
            <a:avLst>
              <a:gd name="adj" fmla="val 338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26364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Most grids fail the test.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263640" y="320040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That's normal — and it's good news.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means the easiest growth you have isn't more posts. It's posting on purpose. You don't need a bigger audience to start. You need a clearer signal.</a:t>
            </a:r>
            <a:endParaRPr lang="en-US" sz="1400" dirty="0"/>
          </a:p>
        </p:txBody>
      </p:sp>
      <p:pic>
        <p:nvPicPr>
          <p:cNvPr id="12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0:35–0:40  ·  EXERCISE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Draft one signature post.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Not nine. One. The post only you could make this week.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Lane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Which of your three lanes is it in?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46704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621024" y="25786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729" y="277831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21024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hook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21024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First line that makes someone stop scrolling.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44768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419088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793" y="277831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19088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moment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19088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we see — a clip, a photo, a piece to camera.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942832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9217152" y="2578608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857" y="2778313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17152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Why it's you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17152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line that ties it to your three words.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Sketch it in Brief box 3. This is the first post of your brand, run on purpose.</a:t>
            </a:r>
            <a:endParaRPr lang="en-US" sz="1500" dirty="0"/>
          </a:p>
        </p:txBody>
      </p:sp>
      <p:pic>
        <p:nvPicPr>
          <p:cNvPr id="26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VALUE · 0:40–0:44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Engagement pays more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than follower count.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25877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10K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 engaged audience this size can earn real brand deals — you don't need millions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15968" y="233172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44568" y="25877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5–10%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44568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Engagement rates brands prize — micro-creators often beat the big accounts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83296" y="2331720"/>
            <a:ext cx="3557016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11896" y="2587752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Niche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311896" y="342900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clear lane + a local market is worth more to a brand than vague reach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1091672" cy="1783080"/>
          </a:xfrm>
          <a:prstGeom prst="roundRect">
            <a:avLst>
              <a:gd name="adj" fmla="val 6154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4343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actually drives your value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892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Trust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 fans act on what you say)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Clarity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(can a brand describe you in one line)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Consistency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 you show up)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Fit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(does the brand's audience match yours)</a:t>
            </a:r>
            <a:endParaRPr lang="en-US" sz="1450" dirty="0"/>
          </a:p>
        </p:txBody>
      </p:sp>
      <p:pic>
        <p:nvPicPr>
          <p:cNvPr id="16" name="Image 0" descr="/home/claude/assets/mark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PLAY IT SAFE · KNOW YOUR LANE · 0:44–0:46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First, know your lane.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things decide if — and how — you can earn. Get these right before any deal.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48716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686873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state association decides whether high-school NIL is allowed at all (about 45 states say yes). In PA, that's the PIAA.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15968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590288" y="248716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68687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0288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school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90288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Public and private schools can follow different rules, and your AD can add school-level limits on top.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83296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357616" y="248716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68687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7616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status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57616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U.S. citizen or not? If you're not a citizen, your visa may limit what you can earn — see the next slide.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4956048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822960" y="5120640"/>
            <a:ext cx="603504" cy="603504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941" y="5289621"/>
            <a:ext cx="265542" cy="26554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45920" y="5029200"/>
            <a:ext cx="9692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Find your authority: your state association sets the rules and your AD interprets them. With a parent, confirm before you sign.</a:t>
            </a:r>
            <a:endParaRPr lang="en-US" sz="1350" dirty="0"/>
          </a:p>
        </p:txBody>
      </p:sp>
      <p:pic>
        <p:nvPicPr>
          <p:cNvPr id="24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PLAY IT SAFE · THE LINES YOU DON'T CROSS · 0:46–0:48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Then, the lines you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never cross.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1214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3211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must be a real deal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Real work only, never pay-for-play. No school logos, uniforms, or booster collectives.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1214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3211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Tell your AD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Disclose every deal to your athletic director, usually within days — and a parent signs it with you.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1214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3211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Protect what's next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bad deal can cost your season now and your college eligibility later. Check first, sign second.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370832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B3261E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859536" y="4727448"/>
            <a:ext cx="658368" cy="658368"/>
          </a:xfrm>
          <a:prstGeom prst="ellipse">
            <a:avLst/>
          </a:prstGeom>
          <a:solidFill>
            <a:srgbClr val="E24B4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879" y="4911791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455371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International athletes — read this first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737360" y="4946904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6D9D5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 an F-1 visa, active NIL work done in the U.S. can put your visa at risk. The safe lanes are passive income and work done outside the U.S. — talk to your international student office and an immigration attorney before anything.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8704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Rules vary by state, school, and status, and they change. This is education, not legal advice — confirm with your state association, your AD, and a parent.</a:t>
            </a:r>
            <a:endParaRPr lang="en-US" sz="105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GAP · 0:48–0:50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running a business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with no system.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486400" cy="3200400"/>
          </a:xfrm>
          <a:prstGeom prst="roundRect">
            <a:avLst>
              <a:gd name="adj" fmla="val 34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0604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80574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6700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12–20 disconnected tools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DMs for deals · spreadsheets for tracking · screenshots for proof · a separate app to invoice · another to sign · payment chased over text. Nothing talks to anything.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2331720"/>
            <a:ext cx="5376672" cy="3200400"/>
          </a:xfrm>
          <a:prstGeom prst="roundRect">
            <a:avLst>
              <a:gd name="adj" fmla="val 342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83680" y="2606040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385" y="2805745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6700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And brands can't find you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498080" y="347472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There's no front door. A brand that wants a Pittsburgh-area high school lacrosse player with your exact audience has no clean way to discover you, vet you, and pay you. So the deal goes to whoever's easiest to find — not whoever's the best fit.</a:t>
            </a:r>
            <a:endParaRPr lang="en-US" sz="1400" dirty="0"/>
          </a:p>
        </p:txBody>
      </p:sp>
      <p:pic>
        <p:nvPicPr>
          <p:cNvPr id="14" name="Image 2" descr="/home/claude/assets/mark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FIX · 0:50–0:53</a:t>
            </a:r>
            <a:endParaRPr lang="en-US" sz="1200" dirty="0"/>
          </a:p>
        </p:txBody>
      </p:sp>
      <p:pic>
        <p:nvPicPr>
          <p:cNvPr id="3" name="Image 0" descr="/home/claude/assets/logo_full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77240"/>
            <a:ext cx="1973896" cy="1051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965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One place where athletes and brands actually connect.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822960" y="289864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665" y="3098353"/>
            <a:ext cx="313822" cy="31382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One profile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22960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brand, audience, and lanes in one link brands can find, vet, and trust.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15968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4590288" y="289864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993" y="3098353"/>
            <a:ext cx="313822" cy="31382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90288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Smart matching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590288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Our matching engine puts you in front of the brands whose audience actually fits yours.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083296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357616" y="289864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7321" y="3098353"/>
            <a:ext cx="313822" cy="31382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57616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 to payment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357616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Agree, sign, deliver, get paid — tracked in one flow. No more chasing texts.</a:t>
            </a:r>
            <a:endParaRPr lang="en-US" sz="1250" dirty="0"/>
          </a:p>
        </p:txBody>
      </p:sp>
      <p:pic>
        <p:nvPicPr>
          <p:cNvPr id="20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BUILD IT NOW · 0:53–0:58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Scan, and build your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profile right now.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383280" cy="3611880"/>
          </a:xfrm>
          <a:prstGeom prst="roundRect">
            <a:avLst>
              <a:gd name="adj" fmla="val 3243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05840" y="2560320"/>
            <a:ext cx="2468880" cy="2468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606040"/>
            <a:ext cx="2377440" cy="2377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074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Scan to start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5440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demo link — swap for your live signup URL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43400" y="2377440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3434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74920" y="235915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Sign up — claim your handle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343400" y="3099816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343400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074920" y="30815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Add sport, school, position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343400" y="3822192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343400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74920" y="3803904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Drop in your three lanes (box 2)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343400" y="4544568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343400" y="4544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074920" y="45262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Connect your socials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343400" y="5266944"/>
            <a:ext cx="502920" cy="502920"/>
          </a:xfrm>
          <a:prstGeom prst="ellipse">
            <a:avLst/>
          </a:prstGeom>
          <a:solidFill>
            <a:srgbClr val="FF329A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343400" y="5266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074920" y="5248656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live — you're discoverable</a:t>
            </a:r>
            <a:endParaRPr lang="en-US" sz="1600" dirty="0"/>
          </a:p>
        </p:txBody>
      </p:sp>
      <p:pic>
        <p:nvPicPr>
          <p:cNvPr id="24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16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AFTER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Then you're ready when</a:t>
            </a:r>
            <a:endParaRPr lang="en-US" sz="3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counts.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8072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30069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profile is live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clean front door that grows with you — from high school into college.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8072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30069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Build your audience now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followers and brand you grow today are the asset you carry forward.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8072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30069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Deals where you're allowed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Where your state permits it, partner with brands that fit — with a parent's sign-off.</a:t>
            </a:r>
            <a:endParaRPr lang="en-US" sz="1250" dirty="0"/>
          </a:p>
        </p:txBody>
      </p:sp>
      <p:pic>
        <p:nvPicPr>
          <p:cNvPr id="19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17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YOU'VE GOT THIS · 0:58–1:00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walked in an athlete.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leaving a brand.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651760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85146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1 — Identity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29443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words that are the filter for everything you post.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81344" y="2286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455664" y="265176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369" y="2851465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70064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2 — Your lanes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70064" y="29443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three themes fans will follow you for.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22960" y="4343400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65" y="4543105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3 — Signature post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37360" y="4636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first piece of your brand, run on purpose.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81344" y="39776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455664" y="4343400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369" y="4543105"/>
            <a:ext cx="313822" cy="31382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70064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Profile — live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70064" y="4636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discoverable to brands on Formative.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Take the brief with you. Post your signature piece this week.</a:t>
            </a:r>
            <a:endParaRPr lang="en-US" sz="140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18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Run your brand.</a:t>
            </a:r>
            <a:endParaRPr lang="en-US" sz="5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We'll handle the business.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548640" y="4480560"/>
            <a:ext cx="1554480" cy="1554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663440"/>
            <a:ext cx="1188720" cy="1188720"/>
          </a:xfrm>
          <a:prstGeom prst="rect">
            <a:avLst/>
          </a:prstGeom>
        </p:spPr>
      </p:pic>
      <p:pic>
        <p:nvPicPr>
          <p:cNvPr id="5" name="Image 1" descr="/home/claude/assets/logo_ful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00"/>
            <a:ext cx="1630610" cy="868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852928" y="5532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6E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formative.app  ·  @formativeunites  ·  hello@formative.app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You're Already a Brand — Formative × High School Baseball</dc:title>
  <dc:subject>PptxGenJS Presentation</dc:subject>
  <dc:creator>Formative Unites, Inc.</dc:creator>
  <cp:lastModifiedBy>Formative Unites, Inc.</cp:lastModifiedBy>
  <cp:revision>1</cp:revision>
  <dcterms:created xsi:type="dcterms:W3CDTF">2026-06-18T03:22:54Z</dcterms:created>
  <dcterms:modified xsi:type="dcterms:W3CDTF">2026-06-18T03:22:54Z</dcterms:modified>
</cp:coreProperties>
</file>